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316" r:id="rId3"/>
    <p:sldId id="317" r:id="rId4"/>
    <p:sldId id="318" r:id="rId5"/>
    <p:sldId id="315" r:id="rId6"/>
    <p:sldId id="320" r:id="rId7"/>
    <p:sldId id="3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4" autoAdjust="0"/>
    <p:restoredTop sz="55968" autoAdjust="0"/>
  </p:normalViewPr>
  <p:slideViewPr>
    <p:cSldViewPr snapToGrid="0" snapToObjects="1" showGuides="1">
      <p:cViewPr varScale="1">
        <p:scale>
          <a:sx n="57" d="100"/>
          <a:sy n="57" d="100"/>
        </p:scale>
        <p:origin x="102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Wong" userId="934a16c2-3b82-4a04-8cf4-72a5c39a78f6" providerId="ADAL" clId="{6624BDA5-5E62-4DCD-AC58-5D64DFC703A6}"/>
    <pc:docChg chg="undo custSel addSld modSld sldOrd">
      <pc:chgData name="Kitty Wong" userId="934a16c2-3b82-4a04-8cf4-72a5c39a78f6" providerId="ADAL" clId="{6624BDA5-5E62-4DCD-AC58-5D64DFC703A6}" dt="2026-02-12T00:58:03.539" v="408" actId="20577"/>
      <pc:docMkLst>
        <pc:docMk/>
      </pc:docMkLst>
      <pc:sldChg chg="addSp delSp modSp mod">
        <pc:chgData name="Kitty Wong" userId="934a16c2-3b82-4a04-8cf4-72a5c39a78f6" providerId="ADAL" clId="{6624BDA5-5E62-4DCD-AC58-5D64DFC703A6}" dt="2026-02-12T00:53:00.443" v="36" actId="22"/>
        <pc:sldMkLst>
          <pc:docMk/>
          <pc:sldMk cId="2899179457" sldId="315"/>
        </pc:sldMkLst>
        <pc:spChg chg="mod">
          <ac:chgData name="Kitty Wong" userId="934a16c2-3b82-4a04-8cf4-72a5c39a78f6" providerId="ADAL" clId="{6624BDA5-5E62-4DCD-AC58-5D64DFC703A6}" dt="2026-02-12T00:51:43.238" v="17" actId="20577"/>
          <ac:spMkLst>
            <pc:docMk/>
            <pc:sldMk cId="2899179457" sldId="315"/>
            <ac:spMk id="2" creationId="{9288CD36-E22B-41D1-A03E-C01908B702AA}"/>
          </ac:spMkLst>
        </pc:spChg>
        <pc:spChg chg="mod">
          <ac:chgData name="Kitty Wong" userId="934a16c2-3b82-4a04-8cf4-72a5c39a78f6" providerId="ADAL" clId="{6624BDA5-5E62-4DCD-AC58-5D64DFC703A6}" dt="2026-02-12T00:51:56.995" v="28" actId="20577"/>
          <ac:spMkLst>
            <pc:docMk/>
            <pc:sldMk cId="2899179457" sldId="315"/>
            <ac:spMk id="3" creationId="{79E62DB0-8600-4EB3-902D-095537E470B9}"/>
          </ac:spMkLst>
        </pc:spChg>
        <pc:spChg chg="add del">
          <ac:chgData name="Kitty Wong" userId="934a16c2-3b82-4a04-8cf4-72a5c39a78f6" providerId="ADAL" clId="{6624BDA5-5E62-4DCD-AC58-5D64DFC703A6}" dt="2026-02-12T00:53:00.443" v="36" actId="22"/>
          <ac:spMkLst>
            <pc:docMk/>
            <pc:sldMk cId="2899179457" sldId="315"/>
            <ac:spMk id="5" creationId="{FE5B7E86-30F8-0CBB-F891-BC598DBA69D0}"/>
          </ac:spMkLst>
        </pc:spChg>
      </pc:sldChg>
      <pc:sldChg chg="ord">
        <pc:chgData name="Kitty Wong" userId="934a16c2-3b82-4a04-8cf4-72a5c39a78f6" providerId="ADAL" clId="{6624BDA5-5E62-4DCD-AC58-5D64DFC703A6}" dt="2026-02-12T00:52:20.593" v="30"/>
        <pc:sldMkLst>
          <pc:docMk/>
          <pc:sldMk cId="3488078795" sldId="316"/>
        </pc:sldMkLst>
      </pc:sldChg>
      <pc:sldChg chg="ord">
        <pc:chgData name="Kitty Wong" userId="934a16c2-3b82-4a04-8cf4-72a5c39a78f6" providerId="ADAL" clId="{6624BDA5-5E62-4DCD-AC58-5D64DFC703A6}" dt="2026-02-12T00:52:23.073" v="32"/>
        <pc:sldMkLst>
          <pc:docMk/>
          <pc:sldMk cId="1006907763" sldId="317"/>
        </pc:sldMkLst>
      </pc:sldChg>
      <pc:sldChg chg="ord">
        <pc:chgData name="Kitty Wong" userId="934a16c2-3b82-4a04-8cf4-72a5c39a78f6" providerId="ADAL" clId="{6624BDA5-5E62-4DCD-AC58-5D64DFC703A6}" dt="2026-02-12T00:52:24.998" v="34"/>
        <pc:sldMkLst>
          <pc:docMk/>
          <pc:sldMk cId="1759068258" sldId="318"/>
        </pc:sldMkLst>
      </pc:sldChg>
      <pc:sldChg chg="modSp add mod">
        <pc:chgData name="Kitty Wong" userId="934a16c2-3b82-4a04-8cf4-72a5c39a78f6" providerId="ADAL" clId="{6624BDA5-5E62-4DCD-AC58-5D64DFC703A6}" dt="2026-02-12T00:58:03.539" v="408" actId="20577"/>
        <pc:sldMkLst>
          <pc:docMk/>
          <pc:sldMk cId="2510838518" sldId="320"/>
        </pc:sldMkLst>
        <pc:spChg chg="mod">
          <ac:chgData name="Kitty Wong" userId="934a16c2-3b82-4a04-8cf4-72a5c39a78f6" providerId="ADAL" clId="{6624BDA5-5E62-4DCD-AC58-5D64DFC703A6}" dt="2026-02-12T00:53:18.450" v="74" actId="20577"/>
          <ac:spMkLst>
            <pc:docMk/>
            <pc:sldMk cId="2510838518" sldId="320"/>
            <ac:spMk id="2" creationId="{8B62B9B5-4318-8A4D-B587-839DF758C8D2}"/>
          </ac:spMkLst>
        </pc:spChg>
        <pc:spChg chg="mod">
          <ac:chgData name="Kitty Wong" userId="934a16c2-3b82-4a04-8cf4-72a5c39a78f6" providerId="ADAL" clId="{6624BDA5-5E62-4DCD-AC58-5D64DFC703A6}" dt="2026-02-12T00:58:03.539" v="408" actId="20577"/>
          <ac:spMkLst>
            <pc:docMk/>
            <pc:sldMk cId="2510838518" sldId="320"/>
            <ac:spMk id="3" creationId="{0763C319-1735-2B63-E3B8-7715B59E93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5150-9119-490A-A216-3D2FA22F7FFC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F01B0-FE71-4C35-BC11-34BCAF52C4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7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45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Make sure your assignment can support all 7 shapes with proper OOP modelling! Why </a:t>
            </a:r>
            <a:r>
              <a:rPr lang="en-CA"/>
              <a:t>not make them now :D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0545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be able to compare all 7 types of shapes, so we need a base abstract class – Shape.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5090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Check out the Driver and </a:t>
            </a:r>
            <a:r>
              <a:rPr lang="en-US" dirty="0" err="1"/>
              <a:t>KittySort</a:t>
            </a:r>
            <a:r>
              <a:rPr lang="en-US" dirty="0"/>
              <a:t> classes in </a:t>
            </a:r>
            <a:r>
              <a:rPr lang="en-US" dirty="0" err="1"/>
              <a:t>comparableVsComparator</a:t>
            </a:r>
            <a:r>
              <a:rPr lang="en-US" dirty="0"/>
              <a:t> package!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lambda expressions in Java are new as of Java 8 – it’s Java’s foray into functional programming. A java lambda expression is a function (method) that can be defined without a class and can be “passed” around like an object to be ran whenever and wherever!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An interface with only one (unimplemented) method is also referred to as a functional interface in functional programming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588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8367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DD9E-C2FB-D72D-F83A-562B0133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0CF70-7CA8-511E-5EAC-CA8F7CCF0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7EB69-93EA-5F3F-F45D-5C0CA4D44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7EF0C-7776-5E84-1D2B-3545B026F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3244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351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3"/>
            <a:ext cx="6845328" cy="2387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8"/>
            <a:ext cx="6845328" cy="1655762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4A6AB35-C22C-4755-9BC8-96579CB6319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904252"/>
            <a:ext cx="3708372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3E21CB55-4C39-4DF9-B29B-0DDB979E079F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-27337"/>
            <a:ext cx="2311400" cy="2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E9DC3DE2-2DBA-41B6-ABDF-9E46BDE3E6CB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horiz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8" y="6176963"/>
            <a:ext cx="165097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CA" dirty="0"/>
              <a:t>Headline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CA"/>
              <a:t>Headline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2672" y="6356350"/>
            <a:ext cx="123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0FE8BCE-6DE9-499B-B47E-840C645FA6F5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7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Shapes Comparisons and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 1</a:t>
            </a:r>
          </a:p>
          <a:p>
            <a:r>
              <a:rPr lang="en-US" dirty="0"/>
              <a:t>CPRG304 – Object-Oriented Programming III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4D4B33-3A5F-4979-822B-8FAADD5E5A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232372" y="6390216"/>
            <a:ext cx="5435628" cy="36512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Kitty Wong © 2024</a:t>
            </a:r>
          </a:p>
        </p:txBody>
      </p:sp>
    </p:spTree>
    <p:extLst>
      <p:ext uri="{BB962C8B-B14F-4D97-AF65-F5344CB8AC3E}">
        <p14:creationId xmlns:p14="http://schemas.microsoft.com/office/powerpoint/2010/main" val="71254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B97E-D1B3-4851-ABC7-B0E60693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5617-0A92-4E60-8144-0818646E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Array[Shape] to store all the objects</a:t>
            </a:r>
          </a:p>
          <a:p>
            <a:r>
              <a:rPr lang="en-US" dirty="0"/>
              <a:t>4 types of shapes: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CA" dirty="0"/>
              <a:t>4 different prisms:</a:t>
            </a:r>
          </a:p>
        </p:txBody>
      </p:sp>
      <p:pic>
        <p:nvPicPr>
          <p:cNvPr id="2055" name="Picture 5" descr="Image result for cylinder">
            <a:extLst>
              <a:ext uri="{FF2B5EF4-FFF2-40B4-BE49-F238E27FC236}">
                <a16:creationId xmlns:a16="http://schemas.microsoft.com/office/drawing/2014/main" id="{9526CC61-390C-46C7-B97F-69B067D7E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528" y="2954655"/>
            <a:ext cx="1147592" cy="119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4" descr="Image result for cone">
            <a:extLst>
              <a:ext uri="{FF2B5EF4-FFF2-40B4-BE49-F238E27FC236}">
                <a16:creationId xmlns:a16="http://schemas.microsoft.com/office/drawing/2014/main" id="{6269817F-813A-45C3-95D4-4CE5C25AB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647" y="2954654"/>
            <a:ext cx="1190626" cy="119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8">
            <a:extLst>
              <a:ext uri="{FF2B5EF4-FFF2-40B4-BE49-F238E27FC236}">
                <a16:creationId xmlns:a16="http://schemas.microsoft.com/office/drawing/2014/main" id="{595DB53F-E0BB-42C7-9017-EC47AD8F5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657" y="3024187"/>
            <a:ext cx="1094715" cy="112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9">
            <a:extLst>
              <a:ext uri="{FF2B5EF4-FFF2-40B4-BE49-F238E27FC236}">
                <a16:creationId xmlns:a16="http://schemas.microsoft.com/office/drawing/2014/main" id="{5264A948-25C7-41B4-89E1-B475400D4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4867276"/>
            <a:ext cx="1475280" cy="130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10">
            <a:extLst>
              <a:ext uri="{FF2B5EF4-FFF2-40B4-BE49-F238E27FC236}">
                <a16:creationId xmlns:a16="http://schemas.microsoft.com/office/drawing/2014/main" id="{BE636708-0A9F-4E86-AC28-2CD5EE98C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960" y="4867276"/>
            <a:ext cx="1190626" cy="149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1">
            <a:extLst>
              <a:ext uri="{FF2B5EF4-FFF2-40B4-BE49-F238E27FC236}">
                <a16:creationId xmlns:a16="http://schemas.microsoft.com/office/drawing/2014/main" id="{499AB1C6-3D0C-44CA-8804-0E3786CEE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595" y="4857597"/>
            <a:ext cx="1475279" cy="165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2">
            <a:extLst>
              <a:ext uri="{FF2B5EF4-FFF2-40B4-BE49-F238E27FC236}">
                <a16:creationId xmlns:a16="http://schemas.microsoft.com/office/drawing/2014/main" id="{777A4309-5D58-4734-8545-F0C63438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883" y="4857597"/>
            <a:ext cx="2284098" cy="186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31951320-E25B-4E94-B17F-0D33B6DFF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9F3DBF3-141B-4DA1-B7CD-312643E56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29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807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DBE4-A3A5-43F0-84FE-264C54C5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Classes</a:t>
            </a:r>
            <a:endParaRPr lang="en-C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ECFAB95-8A7F-4CCF-99B2-CC8B2FF6C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910677"/>
              </p:ext>
            </p:extLst>
          </p:nvPr>
        </p:nvGraphicFramePr>
        <p:xfrm>
          <a:off x="838200" y="1690688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</a:rPr>
                        <a:t>Cylinder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radius;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00E98B0A-72ED-4EC1-8483-571B04806B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620986"/>
              </p:ext>
            </p:extLst>
          </p:nvPr>
        </p:nvGraphicFramePr>
        <p:xfrm>
          <a:off x="3581400" y="1690688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</a:rPr>
                        <a:t>Cone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radius;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0E7C64FC-C6EE-48AF-AF01-EC32F5915C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717608"/>
              </p:ext>
            </p:extLst>
          </p:nvPr>
        </p:nvGraphicFramePr>
        <p:xfrm>
          <a:off x="6324600" y="1690688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Pyramid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side;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1F3148B8-BE8C-4670-A162-F2968834B6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1893435"/>
              </p:ext>
            </p:extLst>
          </p:nvPr>
        </p:nvGraphicFramePr>
        <p:xfrm>
          <a:off x="838200" y="3885406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SquarePrism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side;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3C8C743C-7A16-4679-AC74-1FC8948982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9199211"/>
              </p:ext>
            </p:extLst>
          </p:nvPr>
        </p:nvGraphicFramePr>
        <p:xfrm>
          <a:off x="3581400" y="3885406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TriangularPrism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side;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14" name="Content Placeholder 8">
            <a:extLst>
              <a:ext uri="{FF2B5EF4-FFF2-40B4-BE49-F238E27FC236}">
                <a16:creationId xmlns:a16="http://schemas.microsoft.com/office/drawing/2014/main" id="{7A2138B9-EF00-4177-8537-D2DA244F1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0210"/>
              </p:ext>
            </p:extLst>
          </p:nvPr>
        </p:nvGraphicFramePr>
        <p:xfrm>
          <a:off x="6339840" y="3885406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PentagonalPrism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side;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15" name="Content Placeholder 8">
            <a:extLst>
              <a:ext uri="{FF2B5EF4-FFF2-40B4-BE49-F238E27FC236}">
                <a16:creationId xmlns:a16="http://schemas.microsoft.com/office/drawing/2014/main" id="{699F04D7-2616-4894-9E40-E817E7D789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3452832"/>
              </p:ext>
            </p:extLst>
          </p:nvPr>
        </p:nvGraphicFramePr>
        <p:xfrm>
          <a:off x="9098280" y="3885406"/>
          <a:ext cx="2362200" cy="1738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OctagonalPrism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side;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90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327A-992E-48AD-893F-EF984451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Modelling in OOP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DDF9-95C6-4197-AB43-33BADD7E9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Make our code reusable, maintainable and scalable!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r>
              <a:rPr lang="en-CA" dirty="0"/>
              <a:t>Now we have a base class to compare the height!</a:t>
            </a:r>
          </a:p>
          <a:p>
            <a:pPr lvl="1"/>
            <a:r>
              <a:rPr lang="en-CA" dirty="0"/>
              <a:t>Shape implements the Comparable interface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public int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compareTo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(Shape s){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if (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this.getHeight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&gt;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s.getHeight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) return 1;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else if (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this.getHeight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s.getHeight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) return -1;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else return 0;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1055B2E6-C5CC-4055-89E1-99348639E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3928205"/>
              </p:ext>
            </p:extLst>
          </p:nvPr>
        </p:nvGraphicFramePr>
        <p:xfrm>
          <a:off x="2402205" y="2262342"/>
          <a:ext cx="2438400" cy="1510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02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Prism &lt;&lt;abstract&gt;&gt;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02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02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side;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341"/>
                  </a:ext>
                </a:extLst>
              </a:tr>
              <a:tr h="302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02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F0CA7AF7-675A-4A6F-A8C2-2BE59EE675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625334"/>
              </p:ext>
            </p:extLst>
          </p:nvPr>
        </p:nvGraphicFramePr>
        <p:xfrm>
          <a:off x="6404610" y="2262342"/>
          <a:ext cx="2438400" cy="13274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073179640"/>
                    </a:ext>
                  </a:extLst>
                </a:gridCol>
              </a:tblGrid>
              <a:tr h="3318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Shape &lt;&lt;abstract&gt;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5922198"/>
                  </a:ext>
                </a:extLst>
              </a:tr>
              <a:tr h="3318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height;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4280"/>
                  </a:ext>
                </a:extLst>
              </a:tr>
              <a:tr h="3318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calcVolume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8444"/>
                  </a:ext>
                </a:extLst>
              </a:tr>
              <a:tr h="3318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double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calcBaseArea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();</a:t>
                      </a:r>
                      <a:endParaRPr lang="en-CA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846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06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CD36-E22B-41D1-A03E-C01908B7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Comparisons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62DB0-8600-4EB3-902D-095537E47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project should be able to compare any shapes using one of 3 criteria: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By height – this is just an attribute of the object (using comparable)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By base area – calculated from one or more attributes of the object (using comparator)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By volume – calculated from one or more attributes of the object (using comparator)</a:t>
            </a:r>
          </a:p>
          <a:p>
            <a:pPr lvl="5"/>
            <a:endParaRPr lang="en-US" dirty="0"/>
          </a:p>
          <a:p>
            <a:pPr lvl="1"/>
            <a:r>
              <a:rPr lang="en-US" dirty="0"/>
              <a:t>Formulas for these calculations are given in the bottom of the assignment document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917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3346-CBA7-EAAF-2F78-21125365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B9B5-4318-8A4D-B587-839DF758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Strategy Design Pattern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3C319-1735-2B63-E3B8-7715B59E9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Allows selection of an algorithm at runtime</a:t>
            </a:r>
          </a:p>
          <a:p>
            <a:pPr lvl="1"/>
            <a:r>
              <a:rPr lang="en-US" dirty="0"/>
              <a:t>Choices provided through command-line/program arguments</a:t>
            </a:r>
          </a:p>
          <a:p>
            <a:pPr lvl="2"/>
            <a:r>
              <a:rPr lang="en-US" dirty="0"/>
              <a:t>Comparison types:</a:t>
            </a:r>
          </a:p>
          <a:p>
            <a:pPr lvl="3"/>
            <a:r>
              <a:rPr lang="en-US" dirty="0"/>
              <a:t>H/h: height </a:t>
            </a:r>
          </a:p>
          <a:p>
            <a:pPr lvl="3"/>
            <a:r>
              <a:rPr lang="en-US" dirty="0"/>
              <a:t>V/v: volume</a:t>
            </a:r>
          </a:p>
          <a:p>
            <a:pPr lvl="3"/>
            <a:r>
              <a:rPr lang="en-US" dirty="0"/>
              <a:t>A/a: base area</a:t>
            </a:r>
          </a:p>
          <a:p>
            <a:pPr lvl="2"/>
            <a:r>
              <a:rPr lang="en-US" dirty="0"/>
              <a:t>Sorting Algorithms:</a:t>
            </a:r>
            <a:endParaRPr lang="en-CA" dirty="0"/>
          </a:p>
          <a:p>
            <a:pPr lvl="3"/>
            <a:r>
              <a:rPr lang="en-CA" dirty="0"/>
              <a:t>I/</a:t>
            </a:r>
            <a:r>
              <a:rPr lang="en-CA" dirty="0" err="1"/>
              <a:t>i</a:t>
            </a:r>
            <a:r>
              <a:rPr lang="en-CA" dirty="0"/>
              <a:t>: Insertion</a:t>
            </a:r>
          </a:p>
          <a:p>
            <a:pPr lvl="3"/>
            <a:r>
              <a:rPr lang="en-CA" dirty="0"/>
              <a:t>S/s: Selection</a:t>
            </a:r>
          </a:p>
          <a:p>
            <a:pPr lvl="3"/>
            <a:r>
              <a:rPr lang="en-CA" dirty="0"/>
              <a:t>B/b: Bubble</a:t>
            </a:r>
          </a:p>
          <a:p>
            <a:pPr lvl="3"/>
            <a:r>
              <a:rPr lang="en-CA" dirty="0"/>
              <a:t>M/m: Merge</a:t>
            </a:r>
          </a:p>
          <a:p>
            <a:pPr lvl="3"/>
            <a:r>
              <a:rPr lang="en-CA" dirty="0"/>
              <a:t>Q/q: Quick</a:t>
            </a:r>
          </a:p>
          <a:p>
            <a:pPr lvl="3"/>
            <a:r>
              <a:rPr lang="en-CA" dirty="0"/>
              <a:t>Z/z: Algorithm of </a:t>
            </a:r>
            <a:r>
              <a:rPr lang="en-CA"/>
              <a:t>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83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136-F07D-5D90-4A82-B85F02FB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C7631A-9D6E-8B7E-9BEE-BC744565E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5525" y="244355"/>
            <a:ext cx="7740950" cy="5805713"/>
          </a:xfrm>
        </p:spPr>
      </p:pic>
    </p:spTree>
    <p:extLst>
      <p:ext uri="{BB962C8B-B14F-4D97-AF65-F5344CB8AC3E}">
        <p14:creationId xmlns:p14="http://schemas.microsoft.com/office/powerpoint/2010/main" val="3444075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I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91C"/>
      </a:accent1>
      <a:accent2>
        <a:srgbClr val="A6192E"/>
      </a:accent2>
      <a:accent3>
        <a:srgbClr val="00A3E0"/>
      </a:accent3>
      <a:accent4>
        <a:srgbClr val="005EB8"/>
      </a:accent4>
      <a:accent5>
        <a:srgbClr val="6D2077"/>
      </a:accent5>
      <a:accent6>
        <a:srgbClr val="222222"/>
      </a:accent6>
      <a:hlink>
        <a:srgbClr val="515151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T_PPT_Colour_16x9_Template" id="{9343D8A7-6800-F640-AE70-45A3E4AC5BF3}" vid="{216E120B-4FD9-D941-8FC7-0244918ABF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18244</TotalTime>
  <Words>522</Words>
  <Application>Microsoft Office PowerPoint</Application>
  <PresentationFormat>Widescreen</PresentationFormat>
  <Paragraphs>103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Verdana</vt:lpstr>
      <vt:lpstr>Office Theme</vt:lpstr>
      <vt:lpstr>Shapes Comparisons and Modelling</vt:lpstr>
      <vt:lpstr>Shapes</vt:lpstr>
      <vt:lpstr>Shape Classes</vt:lpstr>
      <vt:lpstr>Data Modelling in OOP</vt:lpstr>
      <vt:lpstr>Shape Comparisons</vt:lpstr>
      <vt:lpstr>The Strategy Design Pattern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Kitty Wong</dc:creator>
  <cp:lastModifiedBy>Kitty Wong</cp:lastModifiedBy>
  <cp:revision>365</cp:revision>
  <dcterms:created xsi:type="dcterms:W3CDTF">2016-04-05T14:17:30Z</dcterms:created>
  <dcterms:modified xsi:type="dcterms:W3CDTF">2026-02-12T00:58:04Z</dcterms:modified>
</cp:coreProperties>
</file>